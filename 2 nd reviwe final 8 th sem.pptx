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8" r:id="rId17"/>
    <p:sldId id="279" r:id="rId18"/>
    <p:sldId id="275" r:id="rId19"/>
    <p:sldId id="276" r:id="rId20"/>
    <p:sldId id="277" r:id="rId21"/>
    <p:sldId id="262" r:id="rId22"/>
    <p:sldId id="280" r:id="rId23"/>
    <p:sldId id="281" r:id="rId24"/>
    <p:sldId id="283" r:id="rId25"/>
    <p:sldId id="284" r:id="rId26"/>
    <p:sldId id="285" r:id="rId27"/>
    <p:sldId id="286" r:id="rId28"/>
    <p:sldId id="287" r:id="rId29"/>
    <p:sldId id="289" r:id="rId30"/>
    <p:sldId id="288" r:id="rId31"/>
    <p:sldId id="264" r:id="rId32"/>
    <p:sldId id="265" r:id="rId33"/>
  </p:sldIdLst>
  <p:sldSz cx="9753600" cy="7315200"/>
  <p:notesSz cx="9753600" cy="73152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3FB81289-77D0-447C-AD98-2F98DBF03111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Untitled Section" id="{DB2C73E8-7290-4C7C-A00B-2FDA013D3A87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8"/>
            <p14:sldId id="279"/>
            <p14:sldId id="275"/>
            <p14:sldId id="276"/>
            <p14:sldId id="277"/>
            <p14:sldId id="262"/>
            <p14:sldId id="280"/>
            <p14:sldId id="281"/>
            <p14:sldId id="283"/>
            <p14:sldId id="284"/>
            <p14:sldId id="285"/>
            <p14:sldId id="286"/>
            <p14:sldId id="287"/>
            <p14:sldId id="289"/>
            <p14:sldId id="288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21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25925" cy="366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24500" y="0"/>
            <a:ext cx="4227513" cy="366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1D0A2-7AD5-4657-9059-709BA160F825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30563" y="914400"/>
            <a:ext cx="3292475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74725" y="3521075"/>
            <a:ext cx="7804150" cy="28797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488"/>
            <a:ext cx="4225925" cy="366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24500" y="6948488"/>
            <a:ext cx="4227513" cy="366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44ED6-149D-41C5-907D-2717A166E4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668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44ED6-149D-41C5-907D-2717A166E46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3884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44ED6-149D-41C5-907D-2717A166E46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782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44ED6-149D-41C5-907D-2717A166E46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431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25" dirty="0"/>
              <a:t>B.Tech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5757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10" dirty="0"/>
              <a:t>Friday,</a:t>
            </a:r>
            <a:r>
              <a:rPr spc="15" dirty="0"/>
              <a:t> </a:t>
            </a:r>
            <a:r>
              <a:rPr dirty="0"/>
              <a:t>September</a:t>
            </a:r>
            <a:r>
              <a:rPr spc="-85" dirty="0"/>
              <a:t> </a:t>
            </a:r>
            <a:r>
              <a:rPr dirty="0"/>
              <a:t>12,</a:t>
            </a:r>
            <a:r>
              <a:rPr spc="-50" dirty="0"/>
              <a:t> 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25" dirty="0"/>
              <a:t>B.Tech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5757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10" dirty="0"/>
              <a:t>Friday,</a:t>
            </a:r>
            <a:r>
              <a:rPr spc="15" dirty="0"/>
              <a:t> </a:t>
            </a:r>
            <a:r>
              <a:rPr dirty="0"/>
              <a:t>September</a:t>
            </a:r>
            <a:r>
              <a:rPr spc="-85" dirty="0"/>
              <a:t> </a:t>
            </a:r>
            <a:r>
              <a:rPr dirty="0"/>
              <a:t>12,</a:t>
            </a:r>
            <a:r>
              <a:rPr spc="-50" dirty="0"/>
              <a:t> 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25" dirty="0"/>
              <a:t>B.Tech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5757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10" dirty="0"/>
              <a:t>Friday,</a:t>
            </a:r>
            <a:r>
              <a:rPr spc="15" dirty="0"/>
              <a:t> </a:t>
            </a:r>
            <a:r>
              <a:rPr dirty="0"/>
              <a:t>September</a:t>
            </a:r>
            <a:r>
              <a:rPr spc="-85" dirty="0"/>
              <a:t> </a:t>
            </a:r>
            <a:r>
              <a:rPr dirty="0"/>
              <a:t>12,</a:t>
            </a:r>
            <a:r>
              <a:rPr spc="-50" dirty="0"/>
              <a:t> </a:t>
            </a:r>
            <a:r>
              <a:rPr spc="-20" dirty="0"/>
              <a:t>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25" dirty="0"/>
              <a:t>B.Tech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5757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10" dirty="0"/>
              <a:t>Friday,</a:t>
            </a:r>
            <a:r>
              <a:rPr spc="15" dirty="0"/>
              <a:t> </a:t>
            </a:r>
            <a:r>
              <a:rPr dirty="0"/>
              <a:t>September</a:t>
            </a:r>
            <a:r>
              <a:rPr spc="-85" dirty="0"/>
              <a:t> </a:t>
            </a:r>
            <a:r>
              <a:rPr dirty="0"/>
              <a:t>12,</a:t>
            </a:r>
            <a:r>
              <a:rPr spc="-50" dirty="0"/>
              <a:t> 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25" dirty="0"/>
              <a:t>B.Tech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5757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10" dirty="0"/>
              <a:t>Friday,</a:t>
            </a:r>
            <a:r>
              <a:rPr spc="15" dirty="0"/>
              <a:t> </a:t>
            </a:r>
            <a:r>
              <a:rPr dirty="0"/>
              <a:t>September</a:t>
            </a:r>
            <a:r>
              <a:rPr spc="-85" dirty="0"/>
              <a:t> </a:t>
            </a:r>
            <a:r>
              <a:rPr dirty="0"/>
              <a:t>12,</a:t>
            </a:r>
            <a:r>
              <a:rPr spc="-50" dirty="0"/>
              <a:t> </a:t>
            </a:r>
            <a:r>
              <a:rPr spc="-20" dirty="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753600" cy="14227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8305" y="355218"/>
            <a:ext cx="6619557" cy="8087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3712" y="1656397"/>
            <a:ext cx="8394700" cy="2223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3712" y="6853314"/>
            <a:ext cx="654050" cy="2686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25" dirty="0"/>
              <a:t>B.Tech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082408" y="6853314"/>
            <a:ext cx="2552700" cy="2686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rgbClr val="5757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10" dirty="0"/>
              <a:t>Friday,</a:t>
            </a:r>
            <a:r>
              <a:rPr spc="15" dirty="0"/>
              <a:t> </a:t>
            </a:r>
            <a:r>
              <a:rPr dirty="0"/>
              <a:t>September</a:t>
            </a:r>
            <a:r>
              <a:rPr spc="-85" dirty="0"/>
              <a:t> </a:t>
            </a:r>
            <a:r>
              <a:rPr dirty="0"/>
              <a:t>12,</a:t>
            </a:r>
            <a:r>
              <a:rPr spc="-50" dirty="0"/>
              <a:t> 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1447800"/>
            <a:ext cx="6906895" cy="1181093"/>
          </a:xfrm>
        </p:spPr>
        <p:txBody>
          <a:bodyPr vert="horz" wrap="square" lIns="0" tIns="11430" rIns="0" bIns="0" rtlCol="0">
            <a:spAutoFit/>
          </a:bodyPr>
          <a:lstStyle/>
          <a:p>
            <a:r>
              <a:rPr lang="en-US" dirty="0"/>
              <a:t>Smart AI Food Scanner For Real-Time Nutritional Analysis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/>
        <p:txBody>
          <a:bodyPr vert="horz" wrap="square" lIns="0" tIns="0" rIns="0" bIns="0" rtlCol="0">
            <a:spAutoFit/>
          </a:bodyPr>
          <a:lstStyle/>
          <a:p>
            <a:r>
              <a:rPr lang="en-IN" dirty="0"/>
              <a:t>Friday, October 23, 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712" y="4155503"/>
            <a:ext cx="2868930" cy="123888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1336675">
              <a:lnSpc>
                <a:spcPct val="98000"/>
              </a:lnSpc>
              <a:spcBef>
                <a:spcPts val="175"/>
              </a:spcBef>
            </a:pPr>
            <a:r>
              <a:rPr sz="2000" b="1" dirty="0">
                <a:latin typeface="Times New Roman"/>
                <a:cs typeface="Times New Roman"/>
              </a:rPr>
              <a:t>Guided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</a:t>
            </a:r>
            <a:r>
              <a:rPr sz="2000" spc="-25" dirty="0">
                <a:latin typeface="Times New Roman"/>
                <a:cs typeface="Times New Roman"/>
              </a:rPr>
              <a:t>, </a:t>
            </a:r>
            <a:r>
              <a:rPr sz="2000" dirty="0">
                <a:latin typeface="Times New Roman"/>
                <a:cs typeface="Times New Roman"/>
              </a:rPr>
              <a:t>MS.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Gayathri </a:t>
            </a:r>
            <a:r>
              <a:rPr sz="1950" spc="-25" dirty="0">
                <a:solidFill>
                  <a:srgbClr val="404040"/>
                </a:solidFill>
                <a:latin typeface="Times New Roman"/>
                <a:cs typeface="Times New Roman"/>
              </a:rPr>
              <a:t>Asst.</a:t>
            </a:r>
            <a:r>
              <a:rPr sz="1950" spc="-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50" spc="-30" dirty="0">
                <a:solidFill>
                  <a:srgbClr val="404040"/>
                </a:solidFill>
                <a:latin typeface="Times New Roman"/>
                <a:cs typeface="Times New Roman"/>
              </a:rPr>
              <a:t>Professor,</a:t>
            </a: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dirty="0">
                <a:solidFill>
                  <a:srgbClr val="404040"/>
                </a:solidFill>
                <a:latin typeface="Times New Roman"/>
                <a:cs typeface="Times New Roman"/>
              </a:rPr>
              <a:t>CSE</a:t>
            </a:r>
            <a:r>
              <a:rPr sz="1950" spc="-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50" spc="-20" dirty="0">
                <a:solidFill>
                  <a:srgbClr val="404040"/>
                </a:solidFill>
                <a:latin typeface="Times New Roman"/>
                <a:cs typeface="Times New Roman"/>
              </a:rPr>
              <a:t>(AI</a:t>
            </a:r>
            <a:r>
              <a:rPr sz="1950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404040"/>
                </a:solidFill>
                <a:latin typeface="Times New Roman"/>
                <a:cs typeface="Times New Roman"/>
              </a:rPr>
              <a:t>&amp;</a:t>
            </a:r>
            <a:r>
              <a:rPr sz="1950" spc="-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404040"/>
                </a:solidFill>
                <a:latin typeface="Times New Roman"/>
                <a:cs typeface="Times New Roman"/>
              </a:rPr>
              <a:t>ML)</a:t>
            </a:r>
            <a:r>
              <a:rPr sz="1950" spc="3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404040"/>
                </a:solidFill>
                <a:latin typeface="Times New Roman"/>
                <a:cs typeface="Times New Roman"/>
              </a:rPr>
              <a:t>Department</a:t>
            </a:r>
            <a:endParaRPr sz="19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8800" y="4155503"/>
            <a:ext cx="3621088" cy="14775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latin typeface="Times New Roman"/>
                <a:cs typeface="Times New Roman"/>
              </a:rPr>
              <a:t>Presented </a:t>
            </a:r>
            <a:r>
              <a:rPr sz="2000" b="1" spc="-25" dirty="0">
                <a:latin typeface="Times New Roman"/>
                <a:cs typeface="Times New Roman"/>
              </a:rPr>
              <a:t>by</a:t>
            </a:r>
            <a:r>
              <a:rPr sz="2000" spc="-25" dirty="0">
                <a:latin typeface="Times New Roman"/>
                <a:cs typeface="Times New Roman"/>
              </a:rPr>
              <a:t>,</a:t>
            </a:r>
            <a:endParaRPr sz="2000" dirty="0">
              <a:latin typeface="Times New Roman"/>
              <a:cs typeface="Times New Roman"/>
            </a:endParaRPr>
          </a:p>
          <a:p>
            <a:pPr marL="12700" marR="5080">
              <a:lnSpc>
                <a:spcPts val="2180"/>
              </a:lnSpc>
              <a:spcBef>
                <a:spcPts val="260"/>
              </a:spcBef>
            </a:pPr>
            <a:r>
              <a:rPr lang="en-IN" sz="2000" dirty="0">
                <a:solidFill>
                  <a:srgbClr val="404040"/>
                </a:solidFill>
                <a:latin typeface="Times New Roman"/>
                <a:cs typeface="Times New Roman"/>
              </a:rPr>
              <a:t>Akshay</a:t>
            </a:r>
            <a:r>
              <a:rPr lang="en-IN" sz="2000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IN"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Krishna k(NCE22AM003)</a:t>
            </a:r>
            <a:r>
              <a:rPr lang="en-IN" sz="2000" dirty="0">
                <a:solidFill>
                  <a:srgbClr val="404040"/>
                </a:solidFill>
                <a:latin typeface="Times New Roman"/>
                <a:cs typeface="Times New Roman"/>
              </a:rPr>
              <a:t> Dhanush</a:t>
            </a:r>
            <a:r>
              <a:rPr lang="en-IN" sz="2000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IN"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P(NCE22AM015)</a:t>
            </a:r>
            <a:endParaRPr sz="1850" dirty="0">
              <a:latin typeface="Times New Roman"/>
              <a:cs typeface="Times New Roman"/>
            </a:endParaRPr>
          </a:p>
          <a:p>
            <a:pPr marL="12700" marR="91440">
              <a:lnSpc>
                <a:spcPct val="101499"/>
              </a:lnSpc>
              <a:spcBef>
                <a:spcPts val="5"/>
              </a:spcBef>
            </a:pPr>
            <a:r>
              <a:rPr lang="en-IN" spc="-10" dirty="0">
                <a:latin typeface="Times New Roman"/>
                <a:cs typeface="Times New Roman"/>
              </a:rPr>
              <a:t>Krisna Dev T A</a:t>
            </a:r>
            <a:r>
              <a:rPr lang="en-IN" sz="1800" spc="-10" dirty="0">
                <a:latin typeface="Times New Roman"/>
                <a:cs typeface="Times New Roman"/>
              </a:rPr>
              <a:t> </a:t>
            </a:r>
            <a:r>
              <a:rPr lang="en-IN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(NCE22AM025) </a:t>
            </a:r>
            <a:r>
              <a:rPr lang="en-IN" sz="1850" dirty="0">
                <a:solidFill>
                  <a:srgbClr val="404040"/>
                </a:solidFill>
                <a:latin typeface="Times New Roman"/>
                <a:cs typeface="Times New Roman"/>
              </a:rPr>
              <a:t>Rohini</a:t>
            </a:r>
            <a:r>
              <a:rPr lang="en-IN" sz="1850" spc="100" dirty="0">
                <a:solidFill>
                  <a:srgbClr val="404040"/>
                </a:solidFill>
                <a:latin typeface="Times New Roman"/>
                <a:cs typeface="Times New Roman"/>
              </a:rPr>
              <a:t> M V</a:t>
            </a:r>
            <a:r>
              <a:rPr lang="en-IN" sz="1850" spc="-10" dirty="0">
                <a:solidFill>
                  <a:srgbClr val="404040"/>
                </a:solidFill>
                <a:latin typeface="Times New Roman"/>
                <a:cs typeface="Times New Roman"/>
              </a:rPr>
              <a:t>(NCE22AM039)</a:t>
            </a:r>
            <a:endParaRPr sz="18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" y="381000"/>
            <a:ext cx="8000999" cy="72840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pc="-10" dirty="0"/>
              <a:t>Introduction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7082408" y="6853314"/>
            <a:ext cx="2552700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0" dirty="0"/>
              <a:t>Friday,</a:t>
            </a:r>
            <a:r>
              <a:rPr spc="15" dirty="0"/>
              <a:t> </a:t>
            </a:r>
            <a:r>
              <a:rPr dirty="0"/>
              <a:t>September</a:t>
            </a:r>
            <a:r>
              <a:rPr spc="-85" dirty="0"/>
              <a:t> </a:t>
            </a:r>
            <a:r>
              <a:rPr dirty="0"/>
              <a:t>1</a:t>
            </a:r>
            <a:r>
              <a:rPr lang="en-US" dirty="0"/>
              <a:t>7</a:t>
            </a:r>
            <a:r>
              <a:rPr dirty="0"/>
              <a:t>,</a:t>
            </a:r>
            <a:r>
              <a:rPr spc="-50" dirty="0"/>
              <a:t> </a:t>
            </a:r>
            <a:r>
              <a:rPr spc="-20" dirty="0"/>
              <a:t>2025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E0C779-3FB3-BF9C-473D-080E249F3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" y="-239394"/>
            <a:ext cx="26481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0321BF-FA3F-1CCA-AC89-52DD54243621}"/>
              </a:ext>
            </a:extLst>
          </p:cNvPr>
          <p:cNvSpPr txBox="1"/>
          <p:nvPr/>
        </p:nvSpPr>
        <p:spPr>
          <a:xfrm>
            <a:off x="758528" y="1981200"/>
            <a:ext cx="90789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used AI to scan food and find  its nutritional values in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time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users know calories, vitamins, and other nutrients easily.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gives health tips and diet suggestions based on user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healthy eating habits and helps in personal health tracking.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387337"/>
            <a:ext cx="6619557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30"/>
              </a:spcBef>
            </a:pPr>
            <a:r>
              <a:rPr lang="en-US" spc="-10" dirty="0"/>
              <a:t>Objective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7082408" y="6853314"/>
            <a:ext cx="2552700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0" dirty="0"/>
              <a:t>Friday,</a:t>
            </a:r>
            <a:r>
              <a:rPr spc="15" dirty="0"/>
              <a:t> </a:t>
            </a:r>
            <a:r>
              <a:rPr dirty="0"/>
              <a:t>September</a:t>
            </a:r>
            <a:r>
              <a:rPr spc="-85" dirty="0"/>
              <a:t> </a:t>
            </a:r>
            <a:r>
              <a:rPr dirty="0"/>
              <a:t>1</a:t>
            </a:r>
            <a:r>
              <a:rPr lang="en-US" dirty="0"/>
              <a:t>7</a:t>
            </a:r>
            <a:r>
              <a:rPr dirty="0"/>
              <a:t>,</a:t>
            </a:r>
            <a:r>
              <a:rPr spc="-50" dirty="0"/>
              <a:t> </a:t>
            </a:r>
            <a:r>
              <a:rPr spc="-20" dirty="0"/>
              <a:t>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D2CABD-CB39-48D5-B941-2E860D340845}"/>
              </a:ext>
            </a:extLst>
          </p:cNvPr>
          <p:cNvSpPr txBox="1"/>
          <p:nvPr/>
        </p:nvSpPr>
        <p:spPr>
          <a:xfrm>
            <a:off x="493712" y="1905000"/>
            <a:ext cx="88788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system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detects food items using AI-based image processing.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and display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nutritional information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calories, fat, and protein.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health and diet recommendations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users.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and track daily food intake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better health monitoring.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promote smart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healthy eating habits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technology.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7082408" y="6853314"/>
            <a:ext cx="2552700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0" dirty="0"/>
              <a:t>Friday,</a:t>
            </a:r>
            <a:r>
              <a:rPr spc="15" dirty="0"/>
              <a:t> </a:t>
            </a:r>
            <a:r>
              <a:rPr dirty="0"/>
              <a:t>September</a:t>
            </a:r>
            <a:r>
              <a:rPr spc="-85" dirty="0"/>
              <a:t> </a:t>
            </a:r>
            <a:r>
              <a:rPr dirty="0"/>
              <a:t>1</a:t>
            </a:r>
            <a:r>
              <a:rPr lang="en-US" dirty="0"/>
              <a:t>7</a:t>
            </a:r>
            <a:r>
              <a:rPr dirty="0"/>
              <a:t>,</a:t>
            </a:r>
            <a:r>
              <a:rPr spc="-50" dirty="0"/>
              <a:t> </a:t>
            </a:r>
            <a:r>
              <a:rPr spc="-20" dirty="0"/>
              <a:t>2025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8B539A2-6D58-DBEC-8D8C-39F894CAA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305" y="355218"/>
            <a:ext cx="6619557" cy="584775"/>
          </a:xfrm>
        </p:spPr>
        <p:txBody>
          <a:bodyPr/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5C7EAE-4092-1A87-94A0-01CA9356ABEF}"/>
              </a:ext>
            </a:extLst>
          </p:cNvPr>
          <p:cNvSpPr txBox="1"/>
          <p:nvPr/>
        </p:nvSpPr>
        <p:spPr>
          <a:xfrm>
            <a:off x="609600" y="2087939"/>
            <a:ext cx="8534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AI-based food scanning system for identifying food items.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nutritional analysis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smart image processing.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user-friendly results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health suggestions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calories, fat, protein, and vitamins instantly.</a:t>
            </a:r>
          </a:p>
          <a:p>
            <a:pPr algn="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healthy food options based on user needs.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alerts or reminders for maintaining balanced diet habits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7082408" y="6853314"/>
            <a:ext cx="2552700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0" dirty="0"/>
              <a:t>Friday,</a:t>
            </a:r>
            <a:r>
              <a:rPr spc="15" dirty="0"/>
              <a:t> </a:t>
            </a:r>
            <a:r>
              <a:rPr dirty="0"/>
              <a:t>September</a:t>
            </a:r>
            <a:r>
              <a:rPr spc="-85" dirty="0"/>
              <a:t> </a:t>
            </a:r>
            <a:r>
              <a:rPr dirty="0"/>
              <a:t>1</a:t>
            </a:r>
            <a:r>
              <a:rPr lang="en-US" dirty="0"/>
              <a:t>7</a:t>
            </a:r>
            <a:r>
              <a:rPr dirty="0"/>
              <a:t>,</a:t>
            </a:r>
            <a:r>
              <a:rPr spc="-50" dirty="0"/>
              <a:t> </a:t>
            </a:r>
            <a:r>
              <a:rPr spc="-20" dirty="0"/>
              <a:t>2025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3DD892D-79AC-49B7-B261-EAF2F92C1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609600"/>
            <a:ext cx="6875462" cy="330393"/>
          </a:xfrm>
        </p:spPr>
        <p:txBody>
          <a:bodyPr/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5BB5F4-B5D6-781F-5B21-E09570505415}"/>
              </a:ext>
            </a:extLst>
          </p:cNvPr>
          <p:cNvSpPr txBox="1"/>
          <p:nvPr/>
        </p:nvSpPr>
        <p:spPr>
          <a:xfrm>
            <a:off x="152400" y="1752600"/>
            <a:ext cx="9372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+ Image Processing + Machine Learning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and analyze food items in real time.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Develop a smart system that helps users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 balanced and healthy diet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real-time nutritional analysis.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 Encourages healthy eating, saves time, improves food awareness, and supports personal health tracking.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8305" y="355218"/>
            <a:ext cx="6619557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30"/>
              </a:spcBef>
            </a:pPr>
            <a:r>
              <a:rPr lang="en-US" spc="-10" dirty="0"/>
              <a:t>Problem Statement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7082408" y="6853314"/>
            <a:ext cx="2552700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0" dirty="0"/>
              <a:t>Friday,</a:t>
            </a:r>
            <a:r>
              <a:rPr spc="15" dirty="0"/>
              <a:t> </a:t>
            </a:r>
            <a:r>
              <a:rPr dirty="0"/>
              <a:t>September</a:t>
            </a:r>
            <a:r>
              <a:rPr spc="-85" dirty="0"/>
              <a:t> </a:t>
            </a:r>
            <a:r>
              <a:rPr dirty="0"/>
              <a:t>1</a:t>
            </a:r>
            <a:r>
              <a:rPr lang="en-US" dirty="0"/>
              <a:t>7</a:t>
            </a:r>
            <a:r>
              <a:rPr dirty="0"/>
              <a:t>,</a:t>
            </a:r>
            <a:r>
              <a:rPr spc="-50" dirty="0"/>
              <a:t> </a:t>
            </a:r>
            <a:r>
              <a:rPr spc="-20" dirty="0"/>
              <a:t>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9983B0-737C-1AF4-1573-EDBE09CAA84B}"/>
              </a:ext>
            </a:extLst>
          </p:cNvPr>
          <p:cNvSpPr txBox="1"/>
          <p:nvPr/>
        </p:nvSpPr>
        <p:spPr>
          <a:xfrm>
            <a:off x="665956" y="1752600"/>
            <a:ext cx="842168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tracking of calories and nutrients in meals is often inaccurate and time-consuming.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lack a simple way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nutritional content in real-time.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food analysis methods rely on generic databases and fail to account for portion size or preparation method.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,AI-powered system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provides instant, personalized nutritional insights.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2E0A18-23CE-ADDB-91D6-E119D9ED8703}"/>
              </a:ext>
            </a:extLst>
          </p:cNvPr>
          <p:cNvSpPr txBox="1"/>
          <p:nvPr/>
        </p:nvSpPr>
        <p:spPr>
          <a:xfrm>
            <a:off x="1295400" y="1371600"/>
            <a:ext cx="624987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Backend &amp; AI processing.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+ React.js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Frontend &amp; API development.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Web scraping.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NLP tasks.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 classification models.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NoSQL database.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/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API layer.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 /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Cloud deployment</a:t>
            </a:r>
            <a:r>
              <a:rPr lang="en-IN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4E3E53-D0EA-678E-C861-159765246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305" y="381000"/>
            <a:ext cx="6619557" cy="584775"/>
          </a:xfrm>
        </p:spPr>
        <p:txBody>
          <a:bodyPr/>
          <a:lstStyle/>
          <a:p>
            <a:r>
              <a:rPr lang="en-US" dirty="0"/>
              <a:t>Tooles &amp; Libraries used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683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CE182-C515-BE00-1692-B0DD76F8F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305" y="533400"/>
            <a:ext cx="7745095" cy="584775"/>
          </a:xfrm>
        </p:spPr>
        <p:txBody>
          <a:bodyPr/>
          <a:lstStyle/>
          <a:p>
            <a:r>
              <a:rPr lang="en-US" dirty="0"/>
              <a:t>Literature  Review – </a:t>
            </a:r>
            <a:r>
              <a:rPr lang="en-US" dirty="0" err="1"/>
              <a:t>NutrifyAi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DC2741-4817-9C78-76C1-50969D579483}"/>
              </a:ext>
            </a:extLst>
          </p:cNvPr>
          <p:cNvSpPr txBox="1"/>
          <p:nvPr/>
        </p:nvSpPr>
        <p:spPr>
          <a:xfrm>
            <a:off x="304800" y="1371600"/>
            <a:ext cx="9144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Paper name: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NutrifyAi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AI-Powered System for Real-Time Food Detection, Nutritional Analysis, and Personalized Meal Recommendations.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Michelle Han,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Junyao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Chen, Zhengyuan Zhou.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August 2024.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Combines YOLOv8 for food detection,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Edamam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APIs for nutrient analysis, and personalized meal recommendations.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capture food images; the system identifies the food,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nutritional content, and suggests personalized meal plans.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Real-time analysis, user-friendly interface, and personalized dietary guidance.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054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FBAEC-221F-1967-BFDA-12DF6917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355218"/>
            <a:ext cx="6723062" cy="635382"/>
          </a:xfrm>
        </p:spPr>
        <p:txBody>
          <a:bodyPr/>
          <a:lstStyle/>
          <a:p>
            <a:r>
              <a:rPr lang="en-US" dirty="0"/>
              <a:t>Literature  Review – </a:t>
            </a:r>
            <a:r>
              <a:rPr lang="en-US" dirty="0" err="1"/>
              <a:t>FoodViser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C17D0-6066-6C52-43B3-07DE07F646B3}"/>
              </a:ext>
            </a:extLst>
          </p:cNvPr>
          <p:cNvSpPr txBox="1"/>
          <p:nvPr/>
        </p:nvSpPr>
        <p:spPr>
          <a:xfrm>
            <a:off x="152400" y="1524000"/>
            <a:ext cx="9753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Paper Name</a:t>
            </a:r>
            <a:r>
              <a:rPr lang="en-IN" dirty="0"/>
              <a:t>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FoodVisor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AI-Powered Food Label Analysis System for Ingredient Interpretation and Personalized Dietary Recommendations.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Amoggha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H, Padmapriya R, A. Ajina.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August 2025.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Utilizes OCR and a hybrid AI model (RAG + fine-tuned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2)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food labels.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scan food labels; the system interprets ingredients, considers user health data, and provides personalized dietary recommendations.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Enhanced food safety insights, personalized guidance, and secure data handling</a:t>
            </a:r>
          </a:p>
        </p:txBody>
      </p:sp>
    </p:spTree>
    <p:extLst>
      <p:ext uri="{BB962C8B-B14F-4D97-AF65-F5344CB8AC3E}">
        <p14:creationId xmlns:p14="http://schemas.microsoft.com/office/powerpoint/2010/main" val="2392008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580B-73E6-8842-1CA4-703B361E5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305" y="355219"/>
            <a:ext cx="7364095" cy="1092582"/>
          </a:xfrm>
        </p:spPr>
        <p:txBody>
          <a:bodyPr/>
          <a:lstStyle/>
          <a:p>
            <a:r>
              <a:rPr lang="en-US" dirty="0"/>
              <a:t>Literature  Review – Diet Engine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64E9DD-88DD-F222-6C67-7A35D759002C}"/>
              </a:ext>
            </a:extLst>
          </p:cNvPr>
          <p:cNvSpPr txBox="1"/>
          <p:nvPr/>
        </p:nvSpPr>
        <p:spPr>
          <a:xfrm>
            <a:off x="408305" y="1447802"/>
            <a:ext cx="843089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:Diet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Engine: A Real-Time Food Nutrition Assistant System for Personalized Dietary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Guidence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AM Saad, et al.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2025.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Employs machine learning for food analysis and calorie estimation.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Detects whole foods, evaluates nutrition, and provides instant calorie and nutrient information.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Real-time analysis, personalized dietary guidance, and user-friendly interface.</a:t>
            </a:r>
          </a:p>
        </p:txBody>
      </p:sp>
    </p:spTree>
    <p:extLst>
      <p:ext uri="{BB962C8B-B14F-4D97-AF65-F5344CB8AC3E}">
        <p14:creationId xmlns:p14="http://schemas.microsoft.com/office/powerpoint/2010/main" val="1171980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023A2-ABA4-8890-6B81-66F2A6574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305" y="355219"/>
            <a:ext cx="7821295" cy="1016382"/>
          </a:xfrm>
        </p:spPr>
        <p:txBody>
          <a:bodyPr/>
          <a:lstStyle/>
          <a:p>
            <a:r>
              <a:rPr lang="en-US" dirty="0"/>
              <a:t>Literature  Review – Smart Plate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BA216F-7C6A-A988-5F52-5E58E345AB59}"/>
              </a:ext>
            </a:extLst>
          </p:cNvPr>
          <p:cNvSpPr txBox="1"/>
          <p:nvPr/>
        </p:nvSpPr>
        <p:spPr>
          <a:xfrm>
            <a:off x="408305" y="1371601"/>
            <a:ext cx="904049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Plate: AI-Driven Nutrition and Allergy Detection.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Abraham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kheln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2025.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Integrates deep learning and computer vision for real-time food recognition and allergen detection.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capture food images; the system identifies the food, analyzes its nutritional content, and detects potential allergens.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Real-time analysis, allergen detection, and personalized dietary insights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4747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7B4A2-2977-3152-43E2-5E538C42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81000"/>
            <a:ext cx="7772400" cy="1219200"/>
          </a:xfrm>
        </p:spPr>
        <p:txBody>
          <a:bodyPr/>
          <a:lstStyle/>
          <a:p>
            <a:r>
              <a:rPr lang="en-US" dirty="0"/>
              <a:t>Literature  Review – </a:t>
            </a:r>
            <a:r>
              <a:rPr lang="en-US" dirty="0" err="1"/>
              <a:t>DietGlance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6BFD29-5744-8E68-F7A0-BEF1ACE9FFB3}"/>
              </a:ext>
            </a:extLst>
          </p:cNvPr>
          <p:cNvSpPr txBox="1"/>
          <p:nvPr/>
        </p:nvSpPr>
        <p:spPr>
          <a:xfrm>
            <a:off x="228600" y="1447800"/>
            <a:ext cx="9296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:DietGlance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Dietary Monitoring and Personalized Analysis at a Glance with Knowledge-Empowered AI Assistant.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Zhihan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Jiang, et al.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February 2025.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eyeglasses to capture meal images and a knowledge-empowered AI assistant for dietary analysis.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Captures meal images, analyzes food items and quantities, and provides personalized dietary suggestions.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Privacy-preserving, hands-free operation, and personalized dietary guidance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0207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2667D-541B-CBE9-D79B-BCAA8B44A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305" y="355218"/>
            <a:ext cx="7440295" cy="1321182"/>
          </a:xfrm>
        </p:spPr>
        <p:txBody>
          <a:bodyPr/>
          <a:lstStyle/>
          <a:p>
            <a:r>
              <a:rPr lang="en-US" dirty="0"/>
              <a:t>Literature  Review – </a:t>
            </a:r>
            <a:r>
              <a:rPr lang="en-US" dirty="0" err="1"/>
              <a:t>NutriVision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4D7354-17C8-CC42-60EE-E1B601E16511}"/>
              </a:ext>
            </a:extLst>
          </p:cNvPr>
          <p:cNvSpPr txBox="1"/>
          <p:nvPr/>
        </p:nvSpPr>
        <p:spPr>
          <a:xfrm>
            <a:off x="408305" y="1524000"/>
            <a:ext cx="904049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:NutriVision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System for Automatic Diet Management in Smart Healthcare’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Madhumita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Veeramreddy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September 2024.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Employs Faster R-CNN for food detection and personalized nutritional analysis.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capture food images; the system identifies food items, estimates quantities, and provides nutritional information.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Accurate food detection, personalized dietary recommendations, and integration with smart healthcare systems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7721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A7EDF-16BB-608D-7D52-9E182BEDC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543800" cy="1295400"/>
          </a:xfrm>
        </p:spPr>
        <p:txBody>
          <a:bodyPr/>
          <a:lstStyle/>
          <a:p>
            <a:r>
              <a:rPr lang="en-US" dirty="0"/>
              <a:t>Literature  Review –  Food Safety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41E90B-156E-C06A-00C7-8B78D6108100}"/>
              </a:ext>
            </a:extLst>
          </p:cNvPr>
          <p:cNvSpPr txBox="1"/>
          <p:nvPr/>
        </p:nvSpPr>
        <p:spPr>
          <a:xfrm>
            <a:off x="457200" y="1524001"/>
            <a:ext cx="8839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:Artificial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Intelligence in Personalized Nutrition and Food Safety.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K. Agrawal, et al.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2025.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Utilizes AI and computer vision for food classification and nutrient detection.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Analyzes food images to classify food items and detect nutrients with high accuracy.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accuracy in food classification and nutrient detection, enhancing personalized nutrition and food safety.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997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10E68-B5F4-373F-6DAD-741F95AA8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59" y="355219"/>
            <a:ext cx="7592695" cy="1168782"/>
          </a:xfrm>
        </p:spPr>
        <p:txBody>
          <a:bodyPr/>
          <a:lstStyle/>
          <a:p>
            <a:r>
              <a:rPr lang="en-US" dirty="0"/>
              <a:t>Literature  Review – </a:t>
            </a:r>
            <a:r>
              <a:rPr lang="en-US" dirty="0" err="1"/>
              <a:t>MealMeter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62A800-B059-9B8D-31E6-B7CE0A0F1140}"/>
              </a:ext>
            </a:extLst>
          </p:cNvPr>
          <p:cNvSpPr txBox="1"/>
          <p:nvPr/>
        </p:nvSpPr>
        <p:spPr>
          <a:xfrm>
            <a:off x="228601" y="1524001"/>
            <a:ext cx="9525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:MealMeter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Using Multimodal Sensing and Machine Learning for Automatically Estimating Nutrition Intake.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March 2025.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Asiful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Arefeen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Samantha Fessler, Sayyed Mostafa Mostafavi, Carol S. Johnston, Hassan Ghasemzadeh.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ML with multimodal sensor data (glucose, heart rate, motion) to estimate nutrients.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Collects sensor data → estimates carbs, protein, fat intake in real-time.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Non-invasive, accurate, supports personalized nutrition for metabolic health.</a:t>
            </a:r>
          </a:p>
        </p:txBody>
      </p:sp>
    </p:spTree>
    <p:extLst>
      <p:ext uri="{BB962C8B-B14F-4D97-AF65-F5344CB8AC3E}">
        <p14:creationId xmlns:p14="http://schemas.microsoft.com/office/powerpoint/2010/main" val="3494597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270C7-F012-E6A5-5CA0-87357079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305" y="355218"/>
            <a:ext cx="6619557" cy="584775"/>
          </a:xfrm>
        </p:spPr>
        <p:txBody>
          <a:bodyPr/>
          <a:lstStyle/>
          <a:p>
            <a:r>
              <a:rPr lang="en-US" dirty="0"/>
              <a:t>Literature  Review – </a:t>
            </a:r>
            <a:r>
              <a:rPr lang="en-IN" dirty="0"/>
              <a:t>MFP3D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545F1F-C647-11FD-2AA5-4313B62A0CDC}"/>
              </a:ext>
            </a:extLst>
          </p:cNvPr>
          <p:cNvSpPr txBox="1"/>
          <p:nvPr/>
        </p:nvSpPr>
        <p:spPr>
          <a:xfrm>
            <a:off x="408304" y="1371600"/>
            <a:ext cx="90404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:MFP3D: Monocular Food Portion Estimation Leveraging 3D Point Clouds (2024).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Nov 2024.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2D → 3D reconstruction with point clouds and deep regression.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works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:Takes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food photo → builds 3D shape → estimates portion volume → calculates calories.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:Works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single image (no depth camera), better portion accuracy.</a:t>
            </a:r>
          </a:p>
        </p:txBody>
      </p:sp>
    </p:spTree>
    <p:extLst>
      <p:ext uri="{BB962C8B-B14F-4D97-AF65-F5344CB8AC3E}">
        <p14:creationId xmlns:p14="http://schemas.microsoft.com/office/powerpoint/2010/main" val="1905519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A718-9CF0-EE6A-C326-352319F04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81000"/>
            <a:ext cx="8077200" cy="1524000"/>
          </a:xfrm>
        </p:spPr>
        <p:txBody>
          <a:bodyPr/>
          <a:lstStyle/>
          <a:p>
            <a:r>
              <a:rPr lang="en-US" dirty="0"/>
              <a:t>Literature  Review - </a:t>
            </a:r>
            <a:r>
              <a:rPr lang="en-IN" dirty="0"/>
              <a:t>Estimating Nutritional Composition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EB7A14-AA91-F44D-8C25-B456FD4C6B6A}"/>
              </a:ext>
            </a:extLst>
          </p:cNvPr>
          <p:cNvSpPr txBox="1"/>
          <p:nvPr/>
        </p:nvSpPr>
        <p:spPr>
          <a:xfrm>
            <a:off x="152400" y="2057400"/>
            <a:ext cx="9448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Paper </a:t>
            </a:r>
            <a:r>
              <a:rPr lang="en-US" b="1" dirty="0" err="1"/>
              <a:t>Name</a:t>
            </a:r>
            <a:r>
              <a:rPr lang="en-US" dirty="0" err="1"/>
              <a:t>:Estimating</a:t>
            </a:r>
            <a:r>
              <a:rPr lang="en-US" dirty="0"/>
              <a:t> Nutritional Composition from Food Volume via Deep Learning.</a:t>
            </a:r>
          </a:p>
          <a:p>
            <a:endParaRPr lang="en-US" dirty="0"/>
          </a:p>
          <a:p>
            <a:r>
              <a:rPr lang="en-US" b="1" dirty="0"/>
              <a:t>Published</a:t>
            </a:r>
            <a:r>
              <a:rPr lang="en-US" dirty="0"/>
              <a:t>: Asian Journal of Research in Computer Science, 2025.</a:t>
            </a:r>
          </a:p>
          <a:p>
            <a:endParaRPr lang="en-US" dirty="0"/>
          </a:p>
          <a:p>
            <a:r>
              <a:rPr lang="en-US" b="1" dirty="0"/>
              <a:t>Method</a:t>
            </a:r>
            <a:r>
              <a:rPr lang="en-US" dirty="0"/>
              <a:t>: Uses image segmentation + depth prediction to find food volume.</a:t>
            </a:r>
          </a:p>
          <a:p>
            <a:endParaRPr lang="en-US" dirty="0"/>
          </a:p>
          <a:p>
            <a:r>
              <a:rPr lang="en-US" b="1" dirty="0"/>
              <a:t>How it </a:t>
            </a:r>
            <a:r>
              <a:rPr lang="en-US" b="1" dirty="0" err="1"/>
              <a:t>works</a:t>
            </a:r>
            <a:r>
              <a:rPr lang="en-US" dirty="0" err="1"/>
              <a:t>:Takes</a:t>
            </a:r>
            <a:r>
              <a:rPr lang="en-US" dirty="0"/>
              <a:t> one photo → predicts depth → estimates food volume → converts to calories using nutrition database.</a:t>
            </a:r>
          </a:p>
          <a:p>
            <a:endParaRPr lang="en-US" dirty="0"/>
          </a:p>
          <a:p>
            <a:r>
              <a:rPr lang="en-US" b="1" dirty="0" err="1"/>
              <a:t>Advantages</a:t>
            </a:r>
            <a:r>
              <a:rPr lang="en-US" dirty="0" err="1"/>
              <a:t>:Needs</a:t>
            </a:r>
            <a:r>
              <a:rPr lang="en-US" dirty="0"/>
              <a:t> only one image, no special device, gives fairly accurate nutrition results.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9256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4F5347-2E82-FB92-99CE-9F42D2AD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305" y="355218"/>
            <a:ext cx="6619557" cy="584775"/>
          </a:xfrm>
        </p:spPr>
        <p:txBody>
          <a:bodyPr/>
          <a:lstStyle/>
          <a:p>
            <a:r>
              <a:rPr lang="en-US" dirty="0"/>
              <a:t>Proposed Model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6619CE-8A3A-F24F-0A46-563388627F98}"/>
              </a:ext>
            </a:extLst>
          </p:cNvPr>
          <p:cNvSpPr txBox="1"/>
          <p:nvPr/>
        </p:nvSpPr>
        <p:spPr>
          <a:xfrm>
            <a:off x="697861" y="1905000"/>
            <a:ext cx="905573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Data Collection &amp; Preprocessing.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food images using the AI scanner.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preprocessing (resize, noise &amp; background removal)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data securely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MongoDB/Firebase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images with nutritional info from trusted sources (e.g., USDA).</a:t>
            </a:r>
          </a:p>
        </p:txBody>
      </p:sp>
    </p:spTree>
    <p:extLst>
      <p:ext uri="{BB962C8B-B14F-4D97-AF65-F5344CB8AC3E}">
        <p14:creationId xmlns:p14="http://schemas.microsoft.com/office/powerpoint/2010/main" val="3983777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28B1B-5837-FD3B-2EC2-7FE0A44F1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305" y="355218"/>
            <a:ext cx="6619557" cy="1169551"/>
          </a:xfrm>
        </p:spPr>
        <p:txBody>
          <a:bodyPr/>
          <a:lstStyle/>
          <a:p>
            <a:r>
              <a:rPr lang="en-US" dirty="0"/>
              <a:t>Proposed Method</a:t>
            </a:r>
            <a:br>
              <a:rPr lang="en-US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2C15A1-A536-7D7D-80E7-417D34D7478A}"/>
              </a:ext>
            </a:extLst>
          </p:cNvPr>
          <p:cNvSpPr txBox="1"/>
          <p:nvPr/>
        </p:nvSpPr>
        <p:spPr>
          <a:xfrm>
            <a:off x="609600" y="1676400"/>
            <a:ext cx="81534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2:-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&amp; Verification.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food detection &amp; classification.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OCR/NLP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text-based nutrition data.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results with nutrition databases for accuracy.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ingredients, portion size, and allergens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990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873A4-2D73-72B2-1B0D-90AE26196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Method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66B33B-DADA-6DE7-9DAB-7DD07A087527}"/>
              </a:ext>
            </a:extLst>
          </p:cNvPr>
          <p:cNvSpPr txBox="1"/>
          <p:nvPr/>
        </p:nvSpPr>
        <p:spPr>
          <a:xfrm>
            <a:off x="533400" y="1600200"/>
            <a:ext cx="686021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3:-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&amp; Insights.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nutrition report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(calories, macros).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dietary suggestions based on user goals.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on an interactive dashboard.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integration with fitness/health apps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1238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726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30"/>
              </a:spcBef>
            </a:pPr>
            <a:r>
              <a:rPr dirty="0"/>
              <a:t>Block</a:t>
            </a:r>
            <a:r>
              <a:rPr spc="-40" dirty="0"/>
              <a:t> </a:t>
            </a:r>
            <a:r>
              <a:rPr spc="-10" dirty="0"/>
              <a:t>Diagram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25" dirty="0"/>
              <a:t>B.Tech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7082408" y="6853314"/>
            <a:ext cx="2552700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0" dirty="0"/>
              <a:t>Friday,</a:t>
            </a:r>
            <a:r>
              <a:rPr spc="15" dirty="0"/>
              <a:t> </a:t>
            </a:r>
            <a:r>
              <a:rPr dirty="0"/>
              <a:t>September</a:t>
            </a:r>
            <a:r>
              <a:rPr spc="-85" dirty="0"/>
              <a:t> </a:t>
            </a:r>
            <a:r>
              <a:rPr dirty="0"/>
              <a:t>1</a:t>
            </a:r>
            <a:r>
              <a:rPr lang="en-US" dirty="0"/>
              <a:t>7</a:t>
            </a:r>
            <a:r>
              <a:rPr dirty="0"/>
              <a:t>,</a:t>
            </a:r>
            <a:r>
              <a:rPr spc="-50" dirty="0"/>
              <a:t> </a:t>
            </a:r>
            <a:r>
              <a:rPr spc="-20" dirty="0"/>
              <a:t>2025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F9134E-0397-43D8-6E87-DC21113F23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414479"/>
            <a:ext cx="7848600" cy="54388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E612-B62D-677C-0281-1B3103904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305" y="304800"/>
            <a:ext cx="6449695" cy="584775"/>
          </a:xfrm>
        </p:spPr>
        <p:txBody>
          <a:bodyPr/>
          <a:lstStyle/>
          <a:p>
            <a:r>
              <a:rPr lang="en-US" dirty="0"/>
              <a:t>Modules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C93878-70D5-0EDA-ECF6-7D57BFD65BE2}"/>
              </a:ext>
            </a:extLst>
          </p:cNvPr>
          <p:cNvSpPr txBox="1"/>
          <p:nvPr/>
        </p:nvSpPr>
        <p:spPr>
          <a:xfrm>
            <a:off x="457200" y="1447800"/>
            <a:ext cx="7162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Management &amp; Backend.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Capture &amp; Preprocessing.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Nutritional Analysis.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Real-Time Feedback &amp; Recommendations.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Storage &amp; Analytics.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UI/UX Design.</a:t>
            </a:r>
          </a:p>
        </p:txBody>
      </p:sp>
    </p:spTree>
    <p:extLst>
      <p:ext uri="{BB962C8B-B14F-4D97-AF65-F5344CB8AC3E}">
        <p14:creationId xmlns:p14="http://schemas.microsoft.com/office/powerpoint/2010/main" val="28099861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EDDA4-2854-B799-1A58-871F4894E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305" y="355218"/>
            <a:ext cx="6619557" cy="584775"/>
          </a:xfrm>
        </p:spPr>
        <p:txBody>
          <a:bodyPr/>
          <a:lstStyle/>
          <a:p>
            <a:r>
              <a:rPr lang="en-US" dirty="0"/>
              <a:t>Module 1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89F471-6025-5A84-792D-11A8F8FB4B0F}"/>
              </a:ext>
            </a:extLst>
          </p:cNvPr>
          <p:cNvSpPr txBox="1"/>
          <p:nvPr/>
        </p:nvSpPr>
        <p:spPr>
          <a:xfrm>
            <a:off x="408305" y="1295400"/>
            <a:ext cx="896429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 &amp; Backend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login authentication.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management for dietary preferences.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 handling and storage.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controls for app maintenance.</a:t>
            </a:r>
          </a:p>
        </p:txBody>
      </p:sp>
    </p:spTree>
    <p:extLst>
      <p:ext uri="{BB962C8B-B14F-4D97-AF65-F5344CB8AC3E}">
        <p14:creationId xmlns:p14="http://schemas.microsoft.com/office/powerpoint/2010/main" val="13830605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1CB25-20B5-DF36-23A7-B50B6EC5C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305" y="355218"/>
            <a:ext cx="6619557" cy="584775"/>
          </a:xfrm>
        </p:spPr>
        <p:txBody>
          <a:bodyPr/>
          <a:lstStyle/>
          <a:p>
            <a:r>
              <a:rPr lang="en-US" dirty="0"/>
              <a:t>Module 2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03D932-01A6-D287-D9DB-9A99145BB6A0}"/>
              </a:ext>
            </a:extLst>
          </p:cNvPr>
          <p:cNvSpPr txBox="1"/>
          <p:nvPr/>
        </p:nvSpPr>
        <p:spPr>
          <a:xfrm>
            <a:off x="304800" y="1524000"/>
            <a:ext cx="70104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Capture &amp; Preprocessing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image capture using device camera.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enhancement and noise reduction.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Cropping and segmentation of food items.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for model compatibility.</a:t>
            </a:r>
          </a:p>
        </p:txBody>
      </p:sp>
    </p:spTree>
    <p:extLst>
      <p:ext uri="{BB962C8B-B14F-4D97-AF65-F5344CB8AC3E}">
        <p14:creationId xmlns:p14="http://schemas.microsoft.com/office/powerpoint/2010/main" val="20906725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1D936-4161-A5BB-1EAF-1E4060A79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305" y="355218"/>
            <a:ext cx="6619557" cy="584775"/>
          </a:xfrm>
        </p:spPr>
        <p:txBody>
          <a:bodyPr/>
          <a:lstStyle/>
          <a:p>
            <a:r>
              <a:rPr lang="en-US" dirty="0"/>
              <a:t>Module 3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E7F8B-A78A-6239-C53D-0ABE096F1E76}"/>
              </a:ext>
            </a:extLst>
          </p:cNvPr>
          <p:cNvSpPr txBox="1"/>
          <p:nvPr/>
        </p:nvSpPr>
        <p:spPr>
          <a:xfrm>
            <a:off x="457200" y="1371600"/>
            <a:ext cx="601979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Nutritional Analysis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identification using AI algorithms.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Nutrient value estimation from database.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multi-item food plates.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model learning and improvement</a:t>
            </a:r>
          </a:p>
        </p:txBody>
      </p:sp>
    </p:spTree>
    <p:extLst>
      <p:ext uri="{BB962C8B-B14F-4D97-AF65-F5344CB8AC3E}">
        <p14:creationId xmlns:p14="http://schemas.microsoft.com/office/powerpoint/2010/main" val="3167998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523E65-71D7-0D56-36BE-13693D876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305" y="355218"/>
            <a:ext cx="6619557" cy="584775"/>
          </a:xfrm>
        </p:spPr>
        <p:txBody>
          <a:bodyPr/>
          <a:lstStyle/>
          <a:p>
            <a:r>
              <a:rPr lang="en-US" dirty="0"/>
              <a:t>Module 4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ED67CE-EEA2-8475-6F0D-0EBAB1C12385}"/>
              </a:ext>
            </a:extLst>
          </p:cNvPr>
          <p:cNvSpPr txBox="1"/>
          <p:nvPr/>
        </p:nvSpPr>
        <p:spPr>
          <a:xfrm>
            <a:off x="457200" y="1600201"/>
            <a:ext cx="6858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Feedback &amp; Recommendations.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display of nutritional data.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meal suggestions.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for unhealthy food choices.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Tips for balanced nutrition</a:t>
            </a:r>
          </a:p>
        </p:txBody>
      </p:sp>
    </p:spTree>
    <p:extLst>
      <p:ext uri="{BB962C8B-B14F-4D97-AF65-F5344CB8AC3E}">
        <p14:creationId xmlns:p14="http://schemas.microsoft.com/office/powerpoint/2010/main" val="663069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20C9F-55F3-57F9-0954-471A4150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305" y="355218"/>
            <a:ext cx="6619557" cy="584775"/>
          </a:xfrm>
        </p:spPr>
        <p:txBody>
          <a:bodyPr/>
          <a:lstStyle/>
          <a:p>
            <a:r>
              <a:rPr lang="en-US" dirty="0"/>
              <a:t>Module 5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11AB32-9229-12C9-4F36-04F31A5EBB94}"/>
              </a:ext>
            </a:extLst>
          </p:cNvPr>
          <p:cNvSpPr txBox="1"/>
          <p:nvPr/>
        </p:nvSpPr>
        <p:spPr>
          <a:xfrm>
            <a:off x="408305" y="1600200"/>
            <a:ext cx="690689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&amp; Analytics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 user food consumption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backup and security.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usage statistics.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for diet trends and goals</a:t>
            </a:r>
          </a:p>
        </p:txBody>
      </p:sp>
    </p:spTree>
    <p:extLst>
      <p:ext uri="{BB962C8B-B14F-4D97-AF65-F5344CB8AC3E}">
        <p14:creationId xmlns:p14="http://schemas.microsoft.com/office/powerpoint/2010/main" val="20218647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CC51A-EA80-C762-F8EB-EE31AB3FF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305" y="355218"/>
            <a:ext cx="6619557" cy="584775"/>
          </a:xfrm>
        </p:spPr>
        <p:txBody>
          <a:bodyPr/>
          <a:lstStyle/>
          <a:p>
            <a:r>
              <a:rPr lang="en-US" dirty="0"/>
              <a:t>Module 6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E1EE5A-DE1A-3148-8674-C48F4038CC1E}"/>
              </a:ext>
            </a:extLst>
          </p:cNvPr>
          <p:cNvSpPr txBox="1"/>
          <p:nvPr/>
        </p:nvSpPr>
        <p:spPr>
          <a:xfrm>
            <a:off x="533400" y="1600200"/>
            <a:ext cx="4876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UI/UX Design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intuitive app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navigation for all age 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design for user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feedback and interactive elements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72689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642AD-FB2B-CFD3-BEB7-19544F7E4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305" y="355218"/>
            <a:ext cx="6619557" cy="584775"/>
          </a:xfrm>
        </p:spPr>
        <p:txBody>
          <a:bodyPr/>
          <a:lstStyle/>
          <a:p>
            <a:r>
              <a:rPr lang="en-US" dirty="0"/>
              <a:t>UML Diagram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5ACFE5-FBD2-3AB5-E0AB-72AE342A1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46" y="1330180"/>
            <a:ext cx="8382000" cy="595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066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AB4A5-0CC7-036D-3E5B-6A50D99D7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305" y="355218"/>
            <a:ext cx="6619557" cy="584775"/>
          </a:xfrm>
        </p:spPr>
        <p:txBody>
          <a:bodyPr/>
          <a:lstStyle/>
          <a:p>
            <a:r>
              <a:rPr lang="en-US" dirty="0"/>
              <a:t>Current Progress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3557FE-6967-FEEC-8B4C-ADD835D0FAE1}"/>
              </a:ext>
            </a:extLst>
          </p:cNvPr>
          <p:cNvSpPr txBox="1"/>
          <p:nvPr/>
        </p:nvSpPr>
        <p:spPr>
          <a:xfrm>
            <a:off x="304800" y="1524000"/>
            <a:ext cx="8839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we have started designing the overall architecture of the Smart Food AI Scanner system and collected multiple research references related to food image analysis and nutritional estimation.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collection process has begun, including gathering sample food images for model training and testing.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C0C351-C5A5-C7C5-D586-27A97581E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37" y="3657599"/>
            <a:ext cx="4576763" cy="3438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0EBD56-E8CA-83A9-0370-E050AA1B80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1" y="3375429"/>
            <a:ext cx="3048000" cy="393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766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Conclusion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7082408" y="6853314"/>
            <a:ext cx="2552700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0" dirty="0"/>
              <a:t>Friday,</a:t>
            </a:r>
            <a:r>
              <a:rPr spc="15" dirty="0"/>
              <a:t> </a:t>
            </a:r>
            <a:r>
              <a:rPr dirty="0"/>
              <a:t>September</a:t>
            </a:r>
            <a:r>
              <a:rPr spc="-85" dirty="0"/>
              <a:t> </a:t>
            </a:r>
            <a:r>
              <a:rPr dirty="0"/>
              <a:t>1</a:t>
            </a:r>
            <a:r>
              <a:rPr lang="en-US" dirty="0"/>
              <a:t>7</a:t>
            </a:r>
            <a:r>
              <a:rPr dirty="0"/>
              <a:t>,</a:t>
            </a:r>
            <a:r>
              <a:rPr spc="-50" dirty="0"/>
              <a:t> </a:t>
            </a:r>
            <a:r>
              <a:rPr spc="-20" dirty="0"/>
              <a:t>2025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739" y="-159702"/>
            <a:ext cx="1689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•.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5E65B0-2FE3-967F-91BF-21F938FBFC69}"/>
              </a:ext>
            </a:extLst>
          </p:cNvPr>
          <p:cNvSpPr txBox="1"/>
          <p:nvPr/>
        </p:nvSpPr>
        <p:spPr>
          <a:xfrm>
            <a:off x="914400" y="1447800"/>
            <a:ext cx="8610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Food AI Scanner enables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nutritional analysis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AI and image recognition.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make accurate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dietary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healthcare, fitness, and food monitoring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instant insights on calories and nutrients.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personalized diet system.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error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food nutrition estimation.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healthy eating habits through smart technology.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7916" y="2819400"/>
            <a:ext cx="6248655" cy="12945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8300" b="0" spc="-10" dirty="0"/>
              <a:t>THANK YOU</a:t>
            </a:r>
            <a:endParaRPr sz="8300" b="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7082408" y="6853314"/>
            <a:ext cx="2552700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0" dirty="0"/>
              <a:t>Friday,</a:t>
            </a:r>
            <a:r>
              <a:rPr spc="15" dirty="0"/>
              <a:t> </a:t>
            </a:r>
            <a:r>
              <a:rPr dirty="0"/>
              <a:t>September</a:t>
            </a:r>
            <a:r>
              <a:rPr spc="-85" dirty="0"/>
              <a:t> </a:t>
            </a:r>
            <a:r>
              <a:rPr dirty="0"/>
              <a:t>1</a:t>
            </a:r>
            <a:r>
              <a:rPr lang="en-US" dirty="0"/>
              <a:t>7,</a:t>
            </a:r>
            <a:r>
              <a:rPr spc="-50" dirty="0"/>
              <a:t>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534</TotalTime>
  <Words>1829</Words>
  <Application>Microsoft Office PowerPoint</Application>
  <PresentationFormat>Custom</PresentationFormat>
  <Paragraphs>329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Arial MT</vt:lpstr>
      <vt:lpstr>Calibri</vt:lpstr>
      <vt:lpstr>Courier New</vt:lpstr>
      <vt:lpstr>Times New Roman</vt:lpstr>
      <vt:lpstr>Office Theme</vt:lpstr>
      <vt:lpstr>Smart AI Food Scanner For Real-Time Nutritional Analysis</vt:lpstr>
      <vt:lpstr>Introduction</vt:lpstr>
      <vt:lpstr>Objective</vt:lpstr>
      <vt:lpstr>Abstract</vt:lpstr>
      <vt:lpstr>Abstract</vt:lpstr>
      <vt:lpstr>Problem Statement</vt:lpstr>
      <vt:lpstr>Tooles &amp; Libraries used</vt:lpstr>
      <vt:lpstr>Literature  Review – NutrifyAi</vt:lpstr>
      <vt:lpstr>Literature  Review – FoodViser</vt:lpstr>
      <vt:lpstr>Literature  Review – Diet Engine</vt:lpstr>
      <vt:lpstr>Literature  Review – Smart Plate</vt:lpstr>
      <vt:lpstr>Literature  Review – DietGlance</vt:lpstr>
      <vt:lpstr>Literature  Review – NutriVision</vt:lpstr>
      <vt:lpstr>Literature  Review –  Food Safety</vt:lpstr>
      <vt:lpstr>Literature  Review – MealMeter</vt:lpstr>
      <vt:lpstr>Literature  Review – MFP3D</vt:lpstr>
      <vt:lpstr>Literature  Review - Estimating Nutritional Composition</vt:lpstr>
      <vt:lpstr>Proposed Model</vt:lpstr>
      <vt:lpstr>Proposed Method </vt:lpstr>
      <vt:lpstr>Proposed Method</vt:lpstr>
      <vt:lpstr>Block Diagram</vt:lpstr>
      <vt:lpstr>Modules</vt:lpstr>
      <vt:lpstr>Module 1</vt:lpstr>
      <vt:lpstr>Module 2</vt:lpstr>
      <vt:lpstr>Module 3</vt:lpstr>
      <vt:lpstr>Module 4</vt:lpstr>
      <vt:lpstr>Module 5</vt:lpstr>
      <vt:lpstr>Module 6</vt:lpstr>
      <vt:lpstr>UML Diagram</vt:lpstr>
      <vt:lpstr>Current Progress 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ROHINI MOHAN</dc:creator>
  <cp:lastModifiedBy>ROHINI MOHAN</cp:lastModifiedBy>
  <cp:revision>10</cp:revision>
  <dcterms:created xsi:type="dcterms:W3CDTF">2025-09-12T04:10:47Z</dcterms:created>
  <dcterms:modified xsi:type="dcterms:W3CDTF">2026-01-06T13:44:31Z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2025-09-11T00:00:00Z</vt:filetime>
  </property>
  <property fmtid="{D5CDD505-2E9C-101B-9397-08002B2CF9AE}" pid="3" name="LastSaved">
    <vt:filetime>2025-09-12T00:00:00Z</vt:filetime>
  </property>
</Properties>
</file>